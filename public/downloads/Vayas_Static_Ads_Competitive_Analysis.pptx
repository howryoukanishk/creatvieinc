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facebook.com/ads/library/?id=884005577869266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facebook.com/ads/library/?id=1066740682988543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facebook.com/ads/library/?id=993168736682315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facebook.com/ads/library/?id=2718309235206360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www.facebook.com/ads/library/?id=952562043302311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9C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DDE7DF"/>
                </a:solidFill>
                <a:latin typeface="Aptos"/>
              </a:defRPr>
            </a:pPr>
            <a:r>
              <a:t>VĀYAS LIFE  /  CREATIVE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7315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800" b="1" i="0">
                <a:solidFill>
                  <a:srgbClr val="E9C85B"/>
                </a:solidFill>
                <a:latin typeface="Aptos"/>
              </a:defRPr>
            </a:pPr>
            <a:r>
              <a:t>META 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10512"/>
            <a:ext cx="107899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COMPETITIVE CREATIVE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9784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700" b="0" i="0">
                <a:solidFill>
                  <a:srgbClr val="E4EAE4"/>
                </a:solidFill>
                <a:latin typeface="Aptos"/>
              </a:defRPr>
            </a:pPr>
            <a:r>
              <a:t>Calcium supplements for women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096512"/>
            <a:ext cx="2240280" cy="54864"/>
          </a:xfrm>
          <a:prstGeom prst="rect">
            <a:avLst/>
          </a:prstGeom>
          <a:solidFill>
            <a:srgbClr val="E9C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352544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DDE7DF"/>
                </a:solidFill>
                <a:latin typeface="Aptos"/>
              </a:defRPr>
            </a:pPr>
            <a:r>
              <a:t>What competitors say, how they say it, and where Vāyas Life can differentiate.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081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DDE7DF"/>
                </a:solidFill>
                <a:latin typeface="Aptos"/>
              </a:defRPr>
            </a:pPr>
            <a:r>
              <a:t>PREPARED BY  /  KANISHK PRABHAT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1081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DDE7D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EVALUATION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600" b="1" i="0">
                <a:solidFill>
                  <a:srgbClr val="173F35"/>
                </a:solidFill>
                <a:latin typeface="Aptos"/>
              </a:defRPr>
            </a:pPr>
            <a:r>
              <a:t>How to read this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36D"/>
                </a:solidFill>
                <a:latin typeface="Aptos"/>
              </a:defRPr>
            </a:pPr>
            <a:r>
              <a:t>A structured creative assessment—not a claim about campaign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3649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80136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E9C85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81051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173F35"/>
                </a:solidFill>
                <a:latin typeface="Aptos"/>
              </a:defRPr>
            </a:pPr>
            <a:r>
              <a:t>HOOK &amp;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075688"/>
            <a:ext cx="25420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0">
                <a:solidFill>
                  <a:srgbClr val="1D2925"/>
                </a:solidFill>
                <a:latin typeface="Aptos"/>
              </a:defRPr>
            </a:pPr>
            <a:r>
              <a:t>Does the opening create a reason to stop and look?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691640"/>
            <a:ext cx="33649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0136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28594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81051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173F35"/>
                </a:solidFill>
                <a:latin typeface="Aptos"/>
              </a:defRPr>
            </a:pPr>
            <a:r>
              <a:t>AUDIENCE RELEVANCE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075688"/>
            <a:ext cx="25420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0">
                <a:solidFill>
                  <a:srgbClr val="1D2925"/>
                </a:solidFill>
                <a:latin typeface="Aptos"/>
              </a:defRPr>
            </a:pPr>
            <a:r>
              <a:t>Is the intended audience or need recognisable?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1691640"/>
            <a:ext cx="33649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80136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E9C8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5672" y="181051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173F35"/>
                </a:solidFill>
                <a:latin typeface="Aptos"/>
              </a:defRPr>
            </a:pPr>
            <a:r>
              <a:t>STORY +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5672" y="2075688"/>
            <a:ext cx="25420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0">
                <a:solidFill>
                  <a:srgbClr val="1D2925"/>
                </a:solidFill>
                <a:latin typeface="Aptos"/>
              </a:defRPr>
            </a:pPr>
            <a:r>
              <a:t>Does the product fit naturally into the creative?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32888" y="2880360"/>
            <a:ext cx="33649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9192" y="299008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28594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299923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173F35"/>
                </a:solidFill>
                <a:latin typeface="Aptos"/>
              </a:defRPr>
            </a:pPr>
            <a:r>
              <a:t>MESSAGE CLARITY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5536" y="3264408"/>
            <a:ext cx="25420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0">
                <a:solidFill>
                  <a:srgbClr val="1D2925"/>
                </a:solidFill>
                <a:latin typeface="Aptos"/>
              </a:defRPr>
            </a:pPr>
            <a:r>
              <a:t>Is the main proposition focused and differentiated?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880360"/>
            <a:ext cx="33649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299008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E9C85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299923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173F35"/>
                </a:solidFill>
                <a:latin typeface="Aptos"/>
              </a:defRPr>
            </a:pPr>
            <a:r>
              <a:t>STRUCTURE +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3264408"/>
            <a:ext cx="25420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0">
                <a:solidFill>
                  <a:srgbClr val="1D2925"/>
                </a:solidFill>
                <a:latin typeface="Aptos"/>
              </a:defRPr>
            </a:pPr>
            <a:r>
              <a:t>Does the ad progress logically and give a next step?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60520"/>
            <a:ext cx="10927080" cy="1389888"/>
          </a:xfrm>
          <a:prstGeom prst="roundRect">
            <a:avLst>
              <a:gd name="adj" fmla="val 8000"/>
            </a:avLst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379976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SCORING NOTE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315968"/>
            <a:ext cx="90068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50" b="0" i="0">
                <a:solidFill>
                  <a:srgbClr val="1D2925"/>
                </a:solidFill>
                <a:latin typeface="Aptos"/>
              </a:defRPr>
            </a:pPr>
            <a:r>
              <a:t>Each ad receives up to 5 points per criterion (25 total). Scores are subjective creative-strategy judgements based on observable ad elements—not CTR, conversions, sales, ROAS, or proof that an ad performed well.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74920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1">
                <a:solidFill>
                  <a:srgbClr val="66736D"/>
                </a:solidFill>
                <a:latin typeface="Aptos"/>
              </a:defRPr>
            </a:pPr>
            <a:r>
              <a:t>Research discipline: separate what is visibly present from interpretation; do not repeat medical or efficacy claims without substantiation.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65392"/>
            <a:ext cx="5029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VĀYAS LIFE  /  STATIC AD COMPETITIVE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STATIC AD REVIEW  /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600" b="1" i="0">
                <a:solidFill>
                  <a:srgbClr val="173F35"/>
                </a:solidFill>
                <a:latin typeface="Aptos"/>
              </a:defRPr>
            </a:pPr>
            <a:r>
              <a:t>EARTHFUL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36D"/>
                </a:solidFill>
                <a:latin typeface="Aptos"/>
              </a:defRPr>
            </a:pPr>
            <a:r>
              <a:t>LIFE-STAGE + COMBO OFFER  •  QUALITATIVE CREATIVE ASSESSMENT 19/25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73352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(1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866" y="1847088"/>
            <a:ext cx="2178923" cy="3867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" y="583387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rPr>
                <a:hlinkClick r:id="rId3"/>
              </a:rPr>
              <a:t>OPEN ORIGINAL META AD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1700784"/>
            <a:ext cx="6537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173F35"/>
                </a:solidFill>
                <a:latin typeface="Aptos"/>
              </a:defRPr>
            </a:pPr>
            <a:r>
              <a:t>“Multivitamin for Menopause + Calcium for Knee Pain”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0912" y="2359152"/>
            <a:ext cx="3154680" cy="2240280"/>
          </a:xfrm>
          <a:prstGeom prst="roundRect">
            <a:avLst>
              <a:gd name="adj" fmla="val 8000"/>
            </a:avLst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551176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t>WHY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871216"/>
            <a:ext cx="27432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Names a recognisable life stage instead of speaking to every supplement buyer.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Combines two products into a contextual bundle and makes the ₹200 offer visible.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product and offer can be understood quickly in a feed.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7" y="2359152"/>
            <a:ext cx="3200400" cy="2240280"/>
          </a:xfrm>
          <a:prstGeom prst="roundRect">
            <a:avLst>
              <a:gd name="adj" fmla="val 8000"/>
            </a:avLst>
          </a:prstGeom>
          <a:solidFill>
            <a:srgbClr val="F0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6" y="2551176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A74C3A"/>
                </a:solidFill>
                <a:latin typeface="Aptos"/>
              </a:defRPr>
            </a:pPr>
            <a:r>
              <a:t>WHERE IT FALLS SHORT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0496" y="2871216"/>
            <a:ext cx="2770632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menopause and knee-pain message risks implying a simple causal relationship.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Two products and multiple concerns compete for one clear promise.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visual is conventional product-led ecommerce rather than a distinctive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0912" y="4818888"/>
            <a:ext cx="6528816" cy="1051560"/>
          </a:xfrm>
          <a:prstGeom prst="roundRect">
            <a:avLst>
              <a:gd name="adj" fmla="val 8000"/>
            </a:avLst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50017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E9C85B"/>
                </a:solidFill>
                <a:latin typeface="Aptos"/>
              </a:defRPr>
            </a:pPr>
            <a:r>
              <a:t>TAKEAWAY FOR VĀYAS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4965192"/>
            <a:ext cx="42519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Keep the life-stage specificity, but make the product role and one substantiated benefit unmistakable.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5029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VĀYAS LIFE  /  STATIC AD COMPETITIVE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STATIC AD REVIEW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600" b="1" i="0">
                <a:solidFill>
                  <a:srgbClr val="173F35"/>
                </a:solidFill>
                <a:latin typeface="Aptos"/>
              </a:defRPr>
            </a:pPr>
            <a:r>
              <a:t>ORIGINS NUTRA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36D"/>
                </a:solidFill>
                <a:latin typeface="Aptos"/>
              </a:defRPr>
            </a:pPr>
            <a:r>
              <a:t>ABSORPTION + FORMULATION  •  QUALITATIVE CREATIVE ASSESSMENT 18/25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73352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tGPT Image Oct 9, 2026, 03_49_08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879092"/>
            <a:ext cx="3803904" cy="3803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" y="583387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rPr>
                <a:hlinkClick r:id="rId3"/>
              </a:rPr>
              <a:t>OPEN ORIGINAL META AD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1700784"/>
            <a:ext cx="6537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173F35"/>
                </a:solidFill>
                <a:latin typeface="Aptos"/>
              </a:defRPr>
            </a:pPr>
            <a:r>
              <a:t>“Stronger bones start with better calcium absorption.”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0912" y="2359152"/>
            <a:ext cx="3154680" cy="2240280"/>
          </a:xfrm>
          <a:prstGeom prst="roundRect">
            <a:avLst>
              <a:gd name="adj" fmla="val 8000"/>
            </a:avLst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551176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t>WHY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871216"/>
            <a:ext cx="27432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One dominant proposition gives the viewer a clear reason to look.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Calcium + D3 + K2 and the three short supporting points create a simple information hierarchy.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hand-held pack makes the product tangible and legible.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7" y="2359152"/>
            <a:ext cx="3200400" cy="2240280"/>
          </a:xfrm>
          <a:prstGeom prst="roundRect">
            <a:avLst>
              <a:gd name="adj" fmla="val 8000"/>
            </a:avLst>
          </a:prstGeom>
          <a:solidFill>
            <a:srgbClr val="F0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6" y="2551176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A74C3A"/>
                </a:solidFill>
                <a:latin typeface="Aptos"/>
              </a:defRPr>
            </a:pPr>
            <a:r>
              <a:t>WHERE IT FALLS SHORT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0496" y="2871216"/>
            <a:ext cx="2770632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audience is broad, not specifically women.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“Clinically backed” and absorption-related claims need evidence and careful qualification.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rational layout offers limited emotional or life-stage relevance.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0912" y="4818888"/>
            <a:ext cx="6528816" cy="1051560"/>
          </a:xfrm>
          <a:prstGeom prst="roundRect">
            <a:avLst>
              <a:gd name="adj" fmla="val 8000"/>
            </a:avLst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50017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E9C85B"/>
                </a:solidFill>
                <a:latin typeface="Aptos"/>
              </a:defRPr>
            </a:pPr>
            <a:r>
              <a:t>TAKEAWAY FOR VĀYAS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4965192"/>
            <a:ext cx="42519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Use one clear formulation story—not a long ingredient list—and substantiate any superiority claim.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5029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VĀYAS LIFE  /  STATIC AD COMPETITIVE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STATIC AD REVIEW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600" b="1" i="0">
                <a:solidFill>
                  <a:srgbClr val="173F35"/>
                </a:solidFill>
                <a:latin typeface="Aptos"/>
              </a:defRPr>
            </a:pPr>
            <a:r>
              <a:t>ZANSKAR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36D"/>
                </a:solidFill>
                <a:latin typeface="Aptos"/>
              </a:defRPr>
            </a:pPr>
            <a:r>
              <a:t>COMPLETE BONE NUTRITION  •  QUALITATIVE CREATIVE ASSESSMENT 17/25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73352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tGPT Image Oct 9, 2026, 03_50_15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879092"/>
            <a:ext cx="3803904" cy="3803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" y="583387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rPr>
                <a:hlinkClick r:id="rId3"/>
              </a:rPr>
              <a:t>OPEN ORIGINAL META AD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1700784"/>
            <a:ext cx="6537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173F35"/>
                </a:solidFill>
                <a:latin typeface="Aptos"/>
              </a:defRPr>
            </a:pPr>
            <a:r>
              <a:t>“1 tablet — total bone nutrition.”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0912" y="2359152"/>
            <a:ext cx="3154680" cy="2240280"/>
          </a:xfrm>
          <a:prstGeom prst="roundRect">
            <a:avLst>
              <a:gd name="adj" fmla="val 8000"/>
            </a:avLst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551176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t>WHY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871216"/>
            <a:ext cx="27432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headline gives an immediate shorthand for the product proposition.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pack sits at the visual centre and the nutrient set supports the all-in-one idea.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creative gives several entry points into bone-health concerns.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7" y="2359152"/>
            <a:ext cx="3200400" cy="2240280"/>
          </a:xfrm>
          <a:prstGeom prst="roundRect">
            <a:avLst>
              <a:gd name="adj" fmla="val 8000"/>
            </a:avLst>
          </a:prstGeom>
          <a:solidFill>
            <a:srgbClr val="F0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6" y="2551176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A74C3A"/>
                </a:solidFill>
                <a:latin typeface="Aptos"/>
              </a:defRPr>
            </a:pPr>
            <a:r>
              <a:t>WHERE IT FALLS SHORT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0496" y="2871216"/>
            <a:ext cx="2770632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Ingredients, concerns and benefits compete for attention.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“70% Indians = Calcium Deficient” statistic needs independent verification.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message is not strongly tailored to women.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0912" y="4818888"/>
            <a:ext cx="6528816" cy="1051560"/>
          </a:xfrm>
          <a:prstGeom prst="roundRect">
            <a:avLst>
              <a:gd name="adj" fmla="val 8000"/>
            </a:avLst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50017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E9C85B"/>
                </a:solidFill>
                <a:latin typeface="Aptos"/>
              </a:defRPr>
            </a:pPr>
            <a:r>
              <a:t>TAKEAWAY FOR VĀYAS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4965192"/>
            <a:ext cx="42519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Completeness can differentiate, but simplify the hierarchy and avoid unverified statistics.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5029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VĀYAS LIFE  /  STATIC AD COMPETITIVE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STATIC AD REVIEW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600" b="1" i="0">
                <a:solidFill>
                  <a:srgbClr val="173F35"/>
                </a:solidFill>
                <a:latin typeface="Aptos"/>
              </a:defRPr>
            </a:pPr>
            <a:r>
              <a:t>SWISSLIFE FOREVER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36D"/>
                </a:solidFill>
                <a:latin typeface="Aptos"/>
              </a:defRPr>
            </a:pPr>
            <a:r>
              <a:t>BONE HEALTH + BROADER WELLNESS  •  QUALITATIVE CREATIVE ASSESSMENT 17/25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73352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(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804" y="1847088"/>
            <a:ext cx="3249046" cy="3867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" y="583387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rPr>
                <a:hlinkClick r:id="rId3"/>
              </a:rPr>
              <a:t>OPEN ORIGINAL META AD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1700784"/>
            <a:ext cx="6537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173F35"/>
                </a:solidFill>
                <a:latin typeface="Aptos"/>
              </a:defRPr>
            </a:pPr>
            <a:r>
              <a:t>“Strong bones. Stronger you.”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0912" y="2359152"/>
            <a:ext cx="3154680" cy="2240280"/>
          </a:xfrm>
          <a:prstGeom prst="roundRect">
            <a:avLst>
              <a:gd name="adj" fmla="val 8000"/>
            </a:avLst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551176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t>WHY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871216"/>
            <a:ext cx="27432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line turns a functional benefit into a broader emotional promise.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Bone imagery, botanical cues and an active-wellness aesthetic feel coherent.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Pack size, price and delivery details make the offer concrete.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7" y="2359152"/>
            <a:ext cx="3200400" cy="2240280"/>
          </a:xfrm>
          <a:prstGeom prst="roundRect">
            <a:avLst>
              <a:gd name="adj" fmla="val 8000"/>
            </a:avLst>
          </a:prstGeom>
          <a:solidFill>
            <a:srgbClr val="F0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6" y="2551176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A74C3A"/>
                </a:solidFill>
                <a:latin typeface="Aptos"/>
              </a:defRPr>
            </a:pPr>
            <a:r>
              <a:t>WHERE IT FALLS SHORT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0496" y="2871216"/>
            <a:ext cx="2770632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Bone health, immunity, neural support, muscles, ingredients and price compete for attention.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creative is not women-specific.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breadth of benefit claims requires substantiation.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0912" y="4818888"/>
            <a:ext cx="6528816" cy="1051560"/>
          </a:xfrm>
          <a:prstGeom prst="roundRect">
            <a:avLst>
              <a:gd name="adj" fmla="val 8000"/>
            </a:avLst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50017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E9C85B"/>
                </a:solidFill>
                <a:latin typeface="Aptos"/>
              </a:defRPr>
            </a:pPr>
            <a:r>
              <a:t>TAKEAWAY FOR VĀYAS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4965192"/>
            <a:ext cx="42519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Keep one lead benefit; let supporting claims sit lower in the hierarchy instead of competing equally.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5029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VĀYAS LIFE  /  STATIC AD COMPETITIVE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STATIC AD REVIEW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600" b="1" i="0">
                <a:solidFill>
                  <a:srgbClr val="173F35"/>
                </a:solidFill>
                <a:latin typeface="Aptos"/>
              </a:defRPr>
            </a:pPr>
            <a:r>
              <a:t>SWISSE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36D"/>
                </a:solidFill>
                <a:latin typeface="Aptos"/>
              </a:defRPr>
            </a:pPr>
            <a:r>
              <a:t>PREMIUM BRAND TRUST  •  QUALITATIVE CREATIVE ASSESSMENT 16/25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73352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879092"/>
            <a:ext cx="3803904" cy="3803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" y="583387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rPr>
                <a:hlinkClick r:id="rId3"/>
              </a:rPr>
              <a:t>OPEN ORIGINAL META AD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1700784"/>
            <a:ext cx="6537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173F35"/>
                </a:solidFill>
                <a:latin typeface="Aptos"/>
              </a:defRPr>
            </a:pPr>
            <a:r>
              <a:t>“Stronger bones, better recovery, superior health.”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0912" y="2359152"/>
            <a:ext cx="3154680" cy="2240280"/>
          </a:xfrm>
          <a:prstGeom prst="roundRect">
            <a:avLst>
              <a:gd name="adj" fmla="val 8000"/>
            </a:avLst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551176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t>WHY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871216"/>
            <a:ext cx="27432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Established brand codes and Australian-origin cues can act as trust signals.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Calcium + magnesium creates a broader formulation story.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packs are prominent and the presentation feels premium.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7" y="2359152"/>
            <a:ext cx="3200400" cy="2240280"/>
          </a:xfrm>
          <a:prstGeom prst="roundRect">
            <a:avLst>
              <a:gd name="adj" fmla="val 8000"/>
            </a:avLst>
          </a:prstGeom>
          <a:solidFill>
            <a:srgbClr val="F0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6" y="2551176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A74C3A"/>
                </a:solidFill>
                <a:latin typeface="Aptos"/>
              </a:defRPr>
            </a:pPr>
            <a:r>
              <a:t>WHERE IT FALLS SHORT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0496" y="2871216"/>
            <a:ext cx="2770632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promise expands into recovery, sleep, tiredness and cramps.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It is not built around a specific women’s need.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Multiple functional claims dilute the main message and require substantiation.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0912" y="4818888"/>
            <a:ext cx="6528816" cy="1051560"/>
          </a:xfrm>
          <a:prstGeom prst="roundRect">
            <a:avLst>
              <a:gd name="adj" fmla="val 8000"/>
            </a:avLst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50017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E9C85B"/>
                </a:solidFill>
                <a:latin typeface="Aptos"/>
              </a:defRPr>
            </a:pPr>
            <a:r>
              <a:t>TAKEAWAY FOR VĀYAS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4965192"/>
            <a:ext cx="42519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Brand familiarity can support trust, but it cannot replace a focused, audience-relevant proposition.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5029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VĀYAS LIFE  /  STATIC AD COMPETITIVE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600" b="1" i="0">
                <a:solidFill>
                  <a:srgbClr val="173F35"/>
                </a:solidFill>
                <a:latin typeface="Aptos"/>
              </a:defRPr>
            </a:pPr>
            <a:r>
              <a:t>Five ads, five different territories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36D"/>
                </a:solidFill>
                <a:latin typeface="Aptos"/>
              </a:defRPr>
            </a:pPr>
            <a:r>
              <a:t>This is a creative landscape—not a ranking of commercial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6824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1488" y="1682496"/>
            <a:ext cx="22402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CREATIVE TERRITORY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4647" y="1682496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WHAT IT 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9288" y="168249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LEARNING FOR VĀYAS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173F35"/>
                </a:solidFill>
                <a:latin typeface="Aptos"/>
              </a:defRPr>
            </a:pPr>
            <a:r>
              <a:t>EARTHFUL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103120"/>
            <a:ext cx="22402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Menopause / life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7" y="2103120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Personal 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210312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One focused, substantiated need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606040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715768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173F35"/>
                </a:solidFill>
                <a:latin typeface="Aptos"/>
              </a:defRPr>
            </a:pPr>
            <a:r>
              <a:t>ORIGINS NUTRA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2715768"/>
            <a:ext cx="22402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Absorption / formulation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7" y="2715768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Clear rational proposition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2715768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Evidence-backed differentiation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18688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32841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173F35"/>
                </a:solidFill>
                <a:latin typeface="Aptos"/>
              </a:defRPr>
            </a:pPr>
            <a:r>
              <a:t>ZANSKAR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3328416"/>
            <a:ext cx="22402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Complete bone nutrition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7" y="3328416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All-in-one shorthand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3328416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Reduce claim and ingredient overload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31336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941064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173F35"/>
                </a:solidFill>
                <a:latin typeface="Aptos"/>
              </a:defRPr>
            </a:pPr>
            <a:r>
              <a:t>SWISSLIFE FOREVER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3941064"/>
            <a:ext cx="22402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Multi-benefit wellness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7" y="3941064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Emotional headline + offer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9288" y="394106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Choose a lead benefit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443984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55371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173F35"/>
                </a:solidFill>
                <a:latin typeface="Aptos"/>
              </a:defRPr>
            </a:pPr>
            <a:r>
              <a:t>SWISSE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1488" y="4553712"/>
            <a:ext cx="22402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Premium brand trust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7" y="4553712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Brand cues + product visibility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9288" y="455371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Narrow the promise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321808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504688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EMERGING OPPORTUNITY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544982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1D2925"/>
                </a:solidFill>
                <a:latin typeface="Aptos"/>
              </a:defRPr>
            </a:pPr>
            <a:r>
              <a:t>Move from “what is inside the bottle?” to “why does this matter to her?”—without claiming to treat symptoms or prevent disease.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65392"/>
            <a:ext cx="5029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VĀYAS LIFE  /  STATIC AD COMPETITIVE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