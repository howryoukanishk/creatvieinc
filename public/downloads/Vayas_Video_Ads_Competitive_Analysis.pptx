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ayas.life/products/vayas-calcium-tablets-for-women-bone-support-india?variant=43015046791233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acebook.com/ads/library/?id=2319141408905145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acebook.com/ads/library/?id=2702285403506986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acebook.com/ads/library/?id=94057762869824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acebook.com/ads/library/?id=1023247943880206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acebook.com/ads/library/?id=205552083507084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9C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DDE7DF"/>
                </a:solidFill>
                <a:latin typeface="Aptos"/>
              </a:defRPr>
            </a:pPr>
            <a:r>
              <a:t>VĀYAS LIFE  /  CREATIVE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800" b="1" i="0">
                <a:solidFill>
                  <a:srgbClr val="E9C85B"/>
                </a:solidFill>
                <a:latin typeface="Aptos"/>
              </a:defRPr>
            </a:pPr>
            <a:r>
              <a:t>META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10512"/>
            <a:ext cx="107899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COMPETITIVE VIDEO AD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0" i="0">
                <a:solidFill>
                  <a:srgbClr val="E4EAE4"/>
                </a:solidFill>
                <a:latin typeface="Aptos"/>
              </a:defRPr>
            </a:pPr>
            <a:r>
              <a:t>Calcium supplements for 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96512"/>
            <a:ext cx="2240280" cy="54864"/>
          </a:xfrm>
          <a:prstGeom prst="rect">
            <a:avLst/>
          </a:prstGeom>
          <a:solidFill>
            <a:srgbClr val="E9C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5254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DDE7DF"/>
                </a:solidFill>
                <a:latin typeface="Aptos"/>
              </a:defRPr>
            </a:pPr>
            <a:r>
              <a:t>What the selected videos actually show—and the creative lessons Vāyas Life can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08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DDE7DF"/>
                </a:solidFill>
                <a:latin typeface="Aptos"/>
              </a:defRPr>
            </a:pPr>
            <a:r>
              <a:t>PREPARED BY  /  KANISHK PRABHAT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1081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DDE7D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What we are looking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A standalone review of the category, the product context, and the creative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73352"/>
            <a:ext cx="52578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THE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26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1" i="0">
                <a:solidFill>
                  <a:srgbClr val="173F35"/>
                </a:solidFill>
                <a:latin typeface="Aptos"/>
              </a:defRPr>
            </a:pPr>
            <a:r>
              <a:t>Supplement ads need to turn a functional product into a clear, relevant reason to care—without making unsupported health promises.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526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1D2925"/>
                </a:solidFill>
                <a:latin typeface="Aptos"/>
              </a:defRPr>
            </a:pPr>
            <a:r>
              <a:t>The selected sample includes direct calcium / bone-health ads and one adjacent joint-health reference, called out explicitly where relevant.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73352"/>
            <a:ext cx="5349240" cy="3246120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202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VĀYAS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3172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700" b="1" i="0">
                <a:solidFill>
                  <a:srgbClr val="173F35"/>
                </a:solidFill>
                <a:latin typeface="Aptos"/>
              </a:defRPr>
            </a:pPr>
            <a:r>
              <a:t>Calcium Tablets for Women 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816352"/>
            <a:ext cx="45262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0" i="0">
                <a:solidFill>
                  <a:srgbClr val="1D2925"/>
                </a:solidFill>
                <a:latin typeface="Aptos"/>
              </a:defRPr>
            </a:pPr>
            <a:r>
              <a:t>The product page lists calcium citrate, vitamin D2, magnesium, zinc and soy isoflavones.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6576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The strategic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968496"/>
            <a:ext cx="4526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200" b="1" i="0">
                <a:solidFill>
                  <a:srgbClr val="1D2925"/>
                </a:solidFill>
                <a:latin typeface="Aptos"/>
              </a:defRPr>
            </a:pPr>
            <a:r>
              <a:t>How can Vāyas make bone-health support feel personally relevant to women 30+ while keeping the proposition focused and defensible?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28523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rPr>
                <a:hlinkClick r:id="rId2"/>
              </a:rPr>
              <a:t>OPEN VĀYAS PRODUCT PAGE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68756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1">
                <a:solidFill>
                  <a:srgbClr val="66736D"/>
                </a:solidFill>
                <a:latin typeface="Aptos"/>
              </a:defRPr>
            </a:pPr>
            <a:r>
              <a:t>Health-claim discipline: do not imply treatment, prevention, symptom relief or guaranteed outcomes without appropriate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How to read this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A structured creative assessment—not a claim about campaign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HOOK &amp;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opening create a reason to stop and look?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2859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AUDIENCE 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Is the intended audience or need recognisable?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9164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0136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18105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STORY +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207568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product fit naturally into the creative?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288036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9900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2859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9992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MESSAGE CLARITY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26440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Is the main proposition focused and differentiated?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880360"/>
            <a:ext cx="33649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9900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00" b="1" i="0">
                <a:solidFill>
                  <a:srgbClr val="E9C8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99923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173F35"/>
                </a:solidFill>
                <a:latin typeface="Aptos"/>
              </a:defRPr>
            </a:pPr>
            <a:r>
              <a:t>STRUCTURE +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264408"/>
            <a:ext cx="25420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0">
                <a:solidFill>
                  <a:srgbClr val="1D2925"/>
                </a:solidFill>
                <a:latin typeface="Aptos"/>
              </a:defRPr>
            </a:pPr>
            <a:r>
              <a:t>Does the ad progress logically and give a next step?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60520"/>
            <a:ext cx="10927080" cy="1389888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7997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SCORING NOTE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315968"/>
            <a:ext cx="9006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50" b="0" i="0">
                <a:solidFill>
                  <a:srgbClr val="1D2925"/>
                </a:solidFill>
                <a:latin typeface="Aptos"/>
              </a:defRPr>
            </a:pPr>
            <a:r>
              <a:t>Each ad receives up to 5 points per criterion (25 total). Scores are subjective creative-strategy judgements based on observable ad elements—not CTR, conversions, sales, ROAS, or proof that an ad performed well.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74920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0" i="1">
                <a:solidFill>
                  <a:srgbClr val="66736D"/>
                </a:solidFill>
                <a:latin typeface="Aptos"/>
              </a:defRPr>
            </a:pPr>
            <a:r>
              <a:t>Research discipline: separate what is visibly present from interpretation; do not repeat medical or efficacy claims without substantiation.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VIDEO AD REVIEW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ZANSKAR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3D BONE BIOLOGY / AGE-RELATED CONTRAST  •  CREATIVE ASSESSMENT 19/25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54480"/>
            <a:ext cx="10927080" cy="512064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E9C85B"/>
                </a:solidFill>
                <a:latin typeface="Aptos"/>
              </a:defRPr>
            </a:pPr>
            <a:r>
              <a:rPr>
                <a:hlinkClick r:id="rId2"/>
              </a:rPr>
              <a:t>WATCH ORIGINAL AD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ADVANCED BONE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6771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THE ACTUAL 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Opens with a visual question/contrast (“25 or 65”) and moves into a stylised internal view of bone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82112"/>
            <a:ext cx="5321808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74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3D bone world is a distinctive visual break from talking-head supplement ads.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Osteoclast/osteoblast-style characters and rebuilding imagery turn bone remodelling into a visual narrative.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 arrives after the educational setup, with a formulation-led end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82112"/>
            <a:ext cx="5349240" cy="1947672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94176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animation is visually memorable but the scientific story may be hard to retain without a simpler verbal takeaway.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animation is not the “Calcium Parcel” metaphor described in the earlier draft; that was a mismatch in the previous deck.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 appears to include several nutrients; women-specific relevance is limited.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3212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68112"/>
            <a:ext cx="8366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If Vāyas uses education, build the story around one accurate, memorable visual idea—and ensure the spoken explanation matches the science.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VIDEO AD REVIEW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EARTHFUL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FAMILY OBSERVATION / WOMEN’S LIFE STAGE  •  CREATIVE ASSESSMENT 20/25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54480"/>
            <a:ext cx="10927080" cy="512064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E9C85B"/>
                </a:solidFill>
                <a:latin typeface="Aptos"/>
              </a:defRPr>
            </a:pPr>
            <a:r>
              <a:rPr>
                <a:hlinkClick r:id="rId2"/>
              </a:rPr>
              <a:t>WATCH ORIGINAL AD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MULTIVITAMIN 40+ / MENOPAUSE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6771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THE ACTUAL 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A phone search about a mother’s behaviour/symptoms leads into a “MENOPAUSE” title, then scenes of knee pain and daily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82112"/>
            <a:ext cx="5321808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74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story starts with a recognisable family situation rather than a product pack.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menopause title makes the intended life stage explicit.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Everyday home scenes make the problem concrete before the product appears.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82112"/>
            <a:ext cx="5349240" cy="1947672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94176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video moves between mood/menopause, knee discomfort and a multivitamin product, which can blur the central promise.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 shown is Multivitamin 40+, so it should not be described as a calcium-only ad.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Symptom-relief implications need substantiation and careful wording.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3212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68112"/>
            <a:ext cx="8366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Use a specific life-stage insight, but keep the need, product role and supportable claim aligned. Don’t imply one supplement addresses every symptom.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VIDEO AD REVIEW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ELEGANCE-O / RESTORE JOINT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CREATOR EXPLANATION / DAILY CALCIUM CONCERN  •  CREATIVE ASSESSMENT 19/25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54480"/>
            <a:ext cx="10927080" cy="512064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E9C85B"/>
                </a:solidFill>
                <a:latin typeface="Aptos"/>
              </a:defRPr>
            </a:pPr>
            <a:r>
              <a:rPr>
                <a:hlinkClick r:id="rId2"/>
              </a:rPr>
              <a:t>WATCH ORIGINAL AD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RESTORE JOINT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6771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THE ACTUAL 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A woman speaks directly to camera about joint concerns and taking calcium daily; the video then shows the Restore Joint bottle and taking the supplement with 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82112"/>
            <a:ext cx="5321808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74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A person speaking directly to camera gives the ad a conversational, creator-led feel.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concern is stated in plain language before the packshot.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Product demonstration makes the format and usage tangible.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82112"/>
            <a:ext cx="5349240" cy="1947672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94176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opening wording and relationship between calcium, joint concerns and digestion are not explained with enough nuance.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product’s reason to choose it needs a clearer, substantiated differentiator than a general joint-health promise.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supplied footage does not support describing this as a calcium-carbonate-versus-citrate comparison.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3212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68112"/>
            <a:ext cx="8366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 formulation-led creator ad should explain one credible difference clearly, rather than implying broad cause-and-effect between calcium and joint symptoms.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VIDEO AD REVIEW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LIGHTYEARS HEALTH / MOVE EASY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EVERYDAY PAIN POINT / SCIENCE CUES  •  CREATIVE ASSESSMENT 19/25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54480"/>
            <a:ext cx="10927080" cy="512064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E9C85B"/>
                </a:solidFill>
                <a:latin typeface="Aptos"/>
              </a:defRPr>
            </a:pPr>
            <a:r>
              <a:rPr>
                <a:hlinkClick r:id="rId2"/>
              </a:rPr>
              <a:t>WATCH ORIGINAL AD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MOVE EASY JOINT-HEALTH SUPPLEMENT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6771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THE ACTUAL 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Shows people walking or struggling with movement, then a woman bending with knee discomfort; it moves into cartilage visuals and a product/testimonial segment.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82112"/>
            <a:ext cx="5321808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74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opening uses visible everyday movement difficulties to make the problem immediately legible.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Hindi/Hinglish captions feel native to the intended audience.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video adds mechanism/science cues and a study screenshot to support its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82112"/>
            <a:ext cx="5349240" cy="1947672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94176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This is primarily a joint-mobility/Boswellia-led adjacent-category ad, not a direct calcium-for-women competitor.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It stacks ingredients, mechanism, study, time-to-result and format benefits, which risks overload.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Study and comparative claims should be verified before being repeated.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3212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68112"/>
            <a:ext cx="8366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Treat this as an adjacent-category reference for problem-led storytelling—not proof of how calcium ads perform. Keep the problem and product category tightly matched.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VIDEO AD REVIEW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THE BODY RESERVE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REAL-CUSTOMER LABEL / ALL-IN-ONE CONVENIENCE  •  CREATIVE ASSESSMENT 18/25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54480"/>
            <a:ext cx="10927080" cy="512064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992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E9C85B"/>
                </a:solidFill>
                <a:latin typeface="Aptos"/>
              </a:defRPr>
            </a:pPr>
            <a:r>
              <a:rPr>
                <a:hlinkClick r:id="rId2"/>
              </a:rPr>
              <a:t>WATCH ORIGINAL AD 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MULTI-NUTRIENT BONE / JOINT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67712"/>
            <a:ext cx="10927080" cy="694944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THE ACTUAL 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8732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Opens on a hand-held bottle under “REAL CUSTOMER REAL EXPERIENCES,” names calcium, magnesium, zinc, D3 and K2, then shows gym lifting footage.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82112"/>
            <a:ext cx="5321808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74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28594B"/>
                </a:solidFill>
                <a:latin typeface="Aptos"/>
              </a:defRPr>
            </a:pPr>
            <a:r>
              <a:t>WHY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“real customer experiences” label signals testimonial-style social proof quickly.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product and ingredient set are shown early, so the basic proposition is clear.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“You don’t need to take multiple supplements” is the clearest convenience argument.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182112"/>
            <a:ext cx="5349240" cy="1947672"/>
          </a:xfrm>
          <a:prstGeom prst="roundRect">
            <a:avLst>
              <a:gd name="adj" fmla="val 8000"/>
            </a:avLst>
          </a:prstGeom>
          <a:solidFill>
            <a:srgbClr val="F0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37413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00" b="1" i="0">
                <a:solidFill>
                  <a:srgbClr val="A74C3A"/>
                </a:solidFill>
                <a:latin typeface="Aptos"/>
              </a:defRPr>
            </a:pPr>
            <a:r>
              <a:t>WHERE IT FALLS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94176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footage is largely product close-up and gym b-roll, with little personal narrative to substantiate the “experience” framing.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gym setting signals an active lifestyle, but the ad does not establish a women-30+ context.</a:t>
            </a:r>
          </a:p>
          <a:p>
            <a:pPr>
              <a:spcAft>
                <a:spcPts val="700"/>
              </a:spcAft>
              <a:defRPr sz="1000" b="0" i="0">
                <a:solidFill>
                  <a:srgbClr val="1D2925"/>
                </a:solidFill>
                <a:latin typeface="Aptos"/>
              </a:defRPr>
            </a:pPr>
            <a:r>
              <a:t>• The ingredient list is more prominent than a distinctive audience problem or proof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30952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53212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E9C85B"/>
                </a:solidFill>
                <a:latin typeface="Aptos"/>
              </a:defRPr>
            </a:pPr>
            <a:r>
              <a:t>TAKEAWAY FOR VĀYAS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468112"/>
            <a:ext cx="83667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If using an all-in-one claim, make convenience the single lead idea and support it with a credible, relevant user 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600" b="1" i="0">
                <a:solidFill>
                  <a:srgbClr val="173F35"/>
                </a:solidFill>
                <a:latin typeface="Aptos"/>
              </a:defRPr>
            </a:pPr>
            <a:r>
              <a:t>What the five videos actually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0" i="0">
                <a:solidFill>
                  <a:srgbClr val="66736D"/>
                </a:solidFill>
                <a:latin typeface="Aptos"/>
              </a:defRPr>
            </a:pPr>
            <a:r>
              <a:t>Different creative mechanisms; not all are direct calcium-category competitors.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64208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1664208"/>
            <a:ext cx="2048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CREATIVE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1664208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1664208"/>
            <a:ext cx="3511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IMPLICATION FOR VĀYAS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108813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66544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 i="0">
                <a:solidFill>
                  <a:srgbClr val="173F35"/>
                </a:solidFill>
                <a:latin typeface="Aptos"/>
              </a:defRPr>
            </a:pPr>
            <a:r>
              <a:t>ZANSKAR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066544"/>
            <a:ext cx="2048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3D bone biology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066544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Make invisible biology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066544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Simplify the takeaway; verify science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78608"/>
            <a:ext cx="108813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70048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 i="0">
                <a:solidFill>
                  <a:srgbClr val="173F35"/>
                </a:solidFill>
                <a:latin typeface="Aptos"/>
              </a:defRPr>
            </a:pPr>
            <a:r>
              <a:t>EARTHFUL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670048"/>
            <a:ext cx="2048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Family story + menopause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670048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Start with a human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670048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Align symptom, product and claim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82112"/>
            <a:ext cx="108813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73552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 i="0">
                <a:solidFill>
                  <a:srgbClr val="173F35"/>
                </a:solidFill>
                <a:latin typeface="Aptos"/>
              </a:defRPr>
            </a:pPr>
            <a:r>
              <a:t>RESTORE JOINT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3273552"/>
            <a:ext cx="2048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Direct-to-camera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3273552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Plain-language product intro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327355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State one credible differentiator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85616"/>
            <a:ext cx="108813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87705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 i="0">
                <a:solidFill>
                  <a:srgbClr val="173F35"/>
                </a:solidFill>
                <a:latin typeface="Aptos"/>
              </a:defRPr>
            </a:pPr>
            <a:r>
              <a:t>MOVE EASY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3877056"/>
            <a:ext cx="2048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Movement problem + science cues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3877056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Show a recognisable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87705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Adjacent category; avoid ingredient overload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89120"/>
            <a:ext cx="108813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480560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 i="0">
                <a:solidFill>
                  <a:srgbClr val="173F35"/>
                </a:solidFill>
                <a:latin typeface="Aptos"/>
              </a:defRPr>
            </a:pPr>
            <a:r>
              <a:t>BODY RESERVE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480560"/>
            <a:ext cx="20482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Customer label + all-in-one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4480560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Convenience is easy to grasp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480560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0" i="0">
                <a:solidFill>
                  <a:srgbClr val="1D2925"/>
                </a:solidFill>
                <a:latin typeface="Aptos"/>
              </a:defRPr>
            </a:pPr>
            <a:r>
              <a:t>Add credible proof and women-specific relevance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25780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E5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5896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 i="0">
                <a:solidFill>
                  <a:srgbClr val="28594B"/>
                </a:solidFill>
                <a:latin typeface="Aptos"/>
              </a:defRPr>
            </a:pPr>
            <a:r>
              <a:t>CREATIVE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539496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00" b="1" i="0">
                <a:solidFill>
                  <a:srgbClr val="1D2925"/>
                </a:solidFill>
                <a:latin typeface="Aptos"/>
              </a:defRPr>
            </a:pPr>
            <a:r>
              <a:t>Own a women-specific insight, make one supportable product promise, and use a simple story to explain why it matters. Do not borrow joint-pain or menopause claims that the product cannot substantiate.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6153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 i="1">
                <a:solidFill>
                  <a:srgbClr val="66736D"/>
                </a:solidFill>
                <a:latin typeface="Aptos"/>
              </a:defRPr>
            </a:pPr>
            <a:r>
              <a:t>Scope note: LightYears Move Easy is treated as an adjacent-category reference, not a direct women’s calcium competitor.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5029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VĀYAS LIFE  /  VIDEO AD COMPETITIVE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66736D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